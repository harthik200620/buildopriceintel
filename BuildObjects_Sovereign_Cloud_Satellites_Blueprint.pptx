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2F6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  <c:pt idx="3">
                    <c:v>FY30</c:v>
                  </c:pt>
                  <c:pt idx="4">
                    <c:v>FY31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48</c:v>
                </c:pt>
                <c:pt idx="2">
                  <c:v>72</c:v>
                </c:pt>
                <c:pt idx="3">
                  <c:v>110</c:v>
                </c:pt>
                <c:pt idx="4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2F6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220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Rent — public cloud</c:v>
                </c:pt>
              </c:strCache>
            </c:strRef>
          </c:tx>
          <c:spPr>
            <a:solidFill>
              <a:srgbClr val="38BDF8"/>
            </a:solidFill>
            <a:ln w="3175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  <c:pt idx="3">
                    <c:v>FY30</c:v>
                  </c:pt>
                  <c:pt idx="4">
                    <c:v>FY31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11</c:v>
                </c:pt>
                <c:pt idx="2">
                  <c:v>19</c:v>
                </c:pt>
                <c:pt idx="3">
                  <c:v>30</c:v>
                </c:pt>
                <c:pt idx="4">
                  <c:v>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 — colo + own IT</c:v>
                </c:pt>
              </c:strCache>
            </c:strRef>
          </c:tx>
          <c:spPr>
            <a:solidFill>
              <a:srgbClr val="F5B83D"/>
            </a:solidFill>
            <a:ln w="31750" cap="flat">
              <a:solidFill>
                <a:srgbClr val="F5B8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5B83D"/>
              </a:solidFill>
              <a:ln w="9525" cap="flat">
                <a:solidFill>
                  <a:srgbClr val="F5B8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  <c:pt idx="3">
                    <c:v>FY30</c:v>
                  </c:pt>
                  <c:pt idx="4">
                    <c:v>FY31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38</c:v>
                </c:pt>
                <c:pt idx="3">
                  <c:v>52</c:v>
                </c:pt>
                <c:pt idx="4">
                  <c:v>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Own — DC + own IT</c:v>
                </c:pt>
              </c:strCache>
            </c:strRef>
          </c:tx>
          <c:spPr>
            <a:solidFill>
              <a:srgbClr val="34D399"/>
            </a:solidFill>
            <a:ln w="31750" cap="flat">
              <a:solidFill>
                <a:srgbClr val="34D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  <c:pt idx="3">
                    <c:v>FY30</c:v>
                  </c:pt>
                  <c:pt idx="4">
                    <c:v>FY31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</c:v>
                </c:pt>
                <c:pt idx="1">
                  <c:v>30</c:v>
                </c:pt>
                <c:pt idx="2">
                  <c:v>62</c:v>
                </c:pt>
                <c:pt idx="3">
                  <c:v>78</c:v>
                </c:pt>
                <c:pt idx="4">
                  <c:v>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4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220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93A7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2F6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Land</c:v>
                  </c:pt>
                  <c:pt idx="1">
                    <c:v>Sea</c:v>
                  </c:pt>
                  <c:pt idx="2">
                    <c:v>Sky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170</c:v>
                </c:pt>
                <c:pt idx="2">
                  <c:v>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2031 (projected)</c:v>
                </c:pt>
              </c:strCache>
            </c:strRef>
          </c:tx>
          <c:spPr>
            <a:solidFill>
              <a:srgbClr val="F5B8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2F6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Land</c:v>
                  </c:pt>
                  <c:pt idx="1">
                    <c:v>Sea</c:v>
                  </c:pt>
                  <c:pt idx="2">
                    <c:v>Sky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115</c:v>
                </c:pt>
                <c:pt idx="2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2F6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4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220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93A7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$/kg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2F6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Falcon 9 rideshare</c:v>
                  </c:pt>
                  <c:pt idx="1">
                    <c:v>SSLV (India)</c:v>
                  </c:pt>
                  <c:pt idx="2">
                    <c:v>PSLV dedicated</c:v>
                  </c:pt>
                  <c:pt idx="3">
                    <c:v>Small launchers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7000</c:v>
                </c:pt>
                <c:pt idx="1">
                  <c:v>7400</c:v>
                </c:pt>
                <c:pt idx="2">
                  <c:v>14000</c:v>
                </c:pt>
                <c:pt idx="3">
                  <c:v>25000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F2F6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220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Cloud + DC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Partnered</c:v>
                  </c:pt>
                  <c:pt idx="1">
                    <c:v>Hybrid ★</c:v>
                  </c:pt>
                  <c:pt idx="2">
                    <c:v>Full-own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105</c:v>
                </c:pt>
                <c:pt idx="2">
                  <c:v>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Partnered</c:v>
                  </c:pt>
                  <c:pt idx="1">
                    <c:v>Hybrid ★</c:v>
                  </c:pt>
                  <c:pt idx="2">
                    <c:v>Full-own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Satellites</c:v>
                </c:pt>
              </c:strCache>
            </c:strRef>
          </c:tx>
          <c:spPr>
            <a:solidFill>
              <a:srgbClr val="F5B8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Partnered</c:v>
                  </c:pt>
                  <c:pt idx="1">
                    <c:v>Hybrid ★</c:v>
                  </c:pt>
                  <c:pt idx="2">
                    <c:v>Full-own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</c:v>
                </c:pt>
                <c:pt idx="1">
                  <c:v>75</c:v>
                </c:pt>
                <c:pt idx="2">
                  <c:v>250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+ reg</c:v>
                </c:pt>
              </c:strCache>
            </c:strRef>
          </c:tx>
          <c:spPr>
            <a:solidFill>
              <a:srgbClr val="5B72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Partnered</c:v>
                  </c:pt>
                  <c:pt idx="1">
                    <c:v>Hybrid ★</c:v>
                  </c:pt>
                  <c:pt idx="2">
                    <c:v>Full-own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7C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220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3A7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Build Objects already owns the design spine. This deck is the case for owning the rails underneath it — cloud, data centers and a small captive satellite layer — sized only for our own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plan is captive infrastructure: our satellites, our servers, our network — sized for our own products only. No capacity resale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rule: systems die at spikes, not averages. Every layer sized with 5-10x headroom; renders queue instead of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layers are one system: satellites feed sites, the core runs the platform, the cloud layer is the software that makes it all one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cloud = software sovereignty first. The same stack runs in colo, in our DC, or burst into public cloud — that portability is what makes every later decision 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our scale pure rent is cheapest inside 5 years, but ownership of the IT wins immediately at &gt;60% GPU utilisation, and the building wins beyond FY31. Hence: hybrid, with a decision gate not a religion.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MW sounds small — it's right-sized: 150 GPUs + CPU + storage is ~0.5-0.7 MW IT load; 1 MW leaves headroom. A DR pod (~0.2 MW) sits in a partner colo in another seismic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 solves cooling and land — our two smallest problems at 1 MW scale. It becomes interesting for a 2030s coastal edge near Vizag/Chennai once India writes marine DC rules. We stay close via a study partnership, not capex.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containers on the ground beat airborne compute on every axis. The sky layer that matters for us is orbital, not atmospheric —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answer to 'which is cheapest': land today by a wide margin; sea could reach coastal parity by the 2030s as Chinese-style serial production matures; airborne compute never pencils at our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construction site gets connectivity the day work starts: 5G router + LEO dish in a site box, absorbed into the SD-WAN overlay. Fibre follows if the site lives long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Broadband is a solved, competitive market — we buy it. What we can't buy: a guaranteed, sovereign, always-ours telemetry layer for every site and product. That's what our miniature satellites are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line: miniature satellites are a telemetry and messaging machine, not a broadband machine. We design for the mission they can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satellites cannot hover over India — they pass. Store-and-forward + 3GPP NTN roaming onto partner constellations gives effective continuity while keeping the sovereign layer small and affordable.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Anchors keep us honest: a far more complex 12-sat EO constellation was priced at $135M under IN-SPACe PPP; our simpler comms birds at ₹180-260 Cr all-in is conservative-feasible.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is a blocker — Starlink cleared the same wall. The killer is sequencing: ITU coordination and IN-SPACe authorisation must start ~2 years before first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space reform direction is already with us — SBaaS grants, PPP constellations, administrative spectrum. These six asks accelerate what's moving, not fight what's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Sovereignty argument only holds if our own estate is harder to breach than the hyperscalers we left. Budget includes red-teaming and DR drills from year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box has two names behind it in our vendor file. Rule: one partner per layer, one fallback per partner, no partner owning two adjacent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plan spends like an operator — every big cheque sits behind a gate that reality must open. Partnered keeps us renting forever; full-own overpays for pride; hybrid buys sovereignty exactly where it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-image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6-image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6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3.png"/><Relationship Id="rId6" Type="http://schemas.openxmlformats.org/officeDocument/2006/relationships/image" Target="../media/image-16-6.png"/><Relationship Id="rId7" Type="http://schemas.openxmlformats.org/officeDocument/2006/relationships/image" Target="../media/image-16-3.png"/><Relationship Id="rId8" Type="http://schemas.openxmlformats.org/officeDocument/2006/relationships/image" Target="../media/image-16-8.png"/><Relationship Id="rId9" Type="http://schemas.openxmlformats.org/officeDocument/2006/relationships/image" Target="../media/image-16-3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1.png"/><Relationship Id="rId13" Type="http://schemas.openxmlformats.org/officeDocument/2006/relationships/image" Target="../media/image-16-11.png"/><Relationship Id="rId14" Type="http://schemas.openxmlformats.org/officeDocument/2006/relationships/image" Target="../media/image-16-11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2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BUILDOBJECTS  ·  INFRASTRUCTURE MASTERPLAN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00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by 2031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Cloud  ·  Indigenous Miniature Satellites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five-year blueprint to own the compute, the network and the sky above our platform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for Build Objects's one lakh customers, never for sale.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59893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9893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20-SLIDE BRIEF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59893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5B83D">
              <a:alpha val="1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59893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2027 – 2031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59893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93A7C4">
              <a:alpha val="18000"/>
            </a:srgbClr>
          </a:solidFill>
          <a:ln w="12700">
            <a:solidFill>
              <a:srgbClr val="93A7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59893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0" y="59893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Three products. Zero rented rails.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23560" cy="3291840"/>
          </a:xfrm>
          <a:prstGeom prst="roundRect">
            <a:avLst>
              <a:gd name="adj" fmla="val 2500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0" descr="assets/icons/hou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7" y="210421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195681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Objects Studio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44168" y="219456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 — sanction-grade designs, 3D + 4K renders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1" name="Image 1" descr="assets/icons/car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" y="290888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44168" y="276148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Objects Store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44168" y="299923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 SKUs — cement to chandeliers, BOQ to cart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3621024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5" name="Image 2" descr="assets/icons/building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77" y="371356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356616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Objects Construct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344168" y="380390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on escrow, milestone-tracked sites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77240" y="43159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BIM spine — </a:t>
            </a:r>
            <a:pPr indent="0" marL="0">
              <a:buNone/>
            </a:pPr>
            <a:r>
              <a:rPr lang="en-US" sz="11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file drives every rupee spent after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55080" y="1417320"/>
            <a:ext cx="5330952" cy="3291840"/>
          </a:xfrm>
          <a:prstGeom prst="roundRect">
            <a:avLst>
              <a:gd name="adj" fmla="val 2500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29400" y="1600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OWN THE INFRASTRUCTURE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629400" y="2011680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2" name="Image 3" descr="assets/icons/rupe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937" y="2104217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96328" y="195681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196328" y="219456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rendering is our biggest recurring bill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629400" y="2816352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6" name="Image 4" descr="assets/icons/lock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937" y="2908889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96328" y="276148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196328" y="2999232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Designs, payments, homes — data stays in India, with us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629400" y="3621024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0" name="Image 5" descr="assets/icons/gauge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937" y="3713561"/>
            <a:ext cx="235549" cy="23554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96328" y="356616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196328" y="3803904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concurrent designers; sites that can't go dark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629400" y="4315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integration is the moat competitors can't rent.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50292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thesis:  </a:t>
            </a:r>
            <a:pPr algn="ctr" indent="0" marL="0">
              <a:buNone/>
            </a:pPr>
            <a:r>
              <a:rPr lang="en-US" sz="1500" i="1" dirty="0">
                <a:solidFill>
                  <a:srgbClr val="93A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whoever owns the design owns the transaction — whoever owns the rails owns the margin, the latency and the risk.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4087368" y="5669280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087368" y="56692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OURSELVES ONLY — NOTHING IS FOR RESALE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load we must never drop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4612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designs / year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807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8076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 at peak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154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9154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5623560" cy="3246120"/>
          </a:xfrm>
          <a:prstGeom prst="roundRect">
            <a:avLst>
              <a:gd name="adj" fmla="val 253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066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GPU FLEET (SUSTAINED CARDS)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31520" y="301752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2"/>
          <p:cNvSpPr/>
          <p:nvPr/>
        </p:nvSpPr>
        <p:spPr>
          <a:xfrm>
            <a:off x="6355080" y="2560320"/>
            <a:ext cx="5330952" cy="3246120"/>
          </a:xfrm>
          <a:prstGeom prst="roundRect">
            <a:avLst>
              <a:gd name="adj" fmla="val 253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2706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10,000 CONCURRENT MEANS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29400" y="3090672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0" descr="assets/icons/zap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937" y="3183209"/>
            <a:ext cx="235549" cy="23554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96328" y="303580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10–20k requests/sec at the edge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196328" y="3273552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absorbed by CDN cache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629400" y="3767328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2" name="Image 1" descr="assets/icons/cpu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937" y="3859865"/>
            <a:ext cx="235549" cy="2355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96328" y="37124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~1–2k requests/sec at origin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196328" y="3950208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stateless app pods, autoscaled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629400" y="4443984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6" name="Image 2" descr="assets/icons/camera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937" y="4536521"/>
            <a:ext cx="235549" cy="23554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96328" y="438912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renders / day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196328" y="4626864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queue-scheduled; spikes = longer ETA, never a crash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629400" y="5120640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0" name="Image 3" descr="assets/icons/driv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937" y="5213177"/>
            <a:ext cx="235549" cy="23554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96328" y="506577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TB → 1.5 PB objects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96328" y="530352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+ 4K walkthroughs; DB stays &lt; 2 TB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Sizing: internal scale model — spike headroom 5–10× is a permanent design rule. est.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END-STATE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stack, layer by layer</a:t>
            </a:r>
            <a:endParaRPr lang="en-US" sz="3000" dirty="0"/>
          </a:p>
        </p:txBody>
      </p:sp>
      <p:pic>
        <p:nvPicPr>
          <p:cNvPr id="4" name="Image 0" descr="assets/stack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9377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481328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1" descr="assets/icons/satellit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977" y="1573865"/>
            <a:ext cx="235549" cy="2355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3368" y="1435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THE SKY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373368" y="16733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miniature satellites + leased LEO broadband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806440" y="2852928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2" descr="assets/icons/serv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977" y="2945465"/>
            <a:ext cx="235549" cy="2355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73368" y="2807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THE CORE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373368" y="3044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1 MW data center + DR + edge cache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806440" y="4224528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4" name="Image 3" descr="assets/icons/cloud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977" y="4317065"/>
            <a:ext cx="235549" cy="2355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73368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THE CLOUD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373368" y="44165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Objects private cloud — K8s, GPU farm, object store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9052560" y="1371600"/>
            <a:ext cx="2633472" cy="4114800"/>
          </a:xfrm>
          <a:prstGeom prst="roundRect">
            <a:avLst>
              <a:gd name="adj" fmla="val 3125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23544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→ 2031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235440" y="1956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cloud</a:t>
            </a:r>
            <a:endParaRPr lang="en-US" sz="1100" dirty="0"/>
          </a:p>
        </p:txBody>
      </p:sp>
      <p:pic>
        <p:nvPicPr>
          <p:cNvPr id="20" name="Image 4" descr="assets/icons/arrow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212848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91472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9235440" y="2798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</a:t>
            </a:r>
            <a:endParaRPr lang="en-US" sz="1100" dirty="0"/>
          </a:p>
        </p:txBody>
      </p:sp>
      <p:pic>
        <p:nvPicPr>
          <p:cNvPr id="23" name="Image 5" descr="assets/icons/arrow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305409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491472" y="30358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SD-WAN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9235440" y="36393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Others' satellites</a:t>
            </a:r>
            <a:endParaRPr lang="en-US" sz="1100" dirty="0"/>
          </a:p>
        </p:txBody>
      </p:sp>
      <p:pic>
        <p:nvPicPr>
          <p:cNvPr id="26" name="Image 6" descr="assets/icons/arrow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3895344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91472" y="3877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constellation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9235440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SOC</a:t>
            </a:r>
            <a:endParaRPr lang="en-US" sz="1100" dirty="0"/>
          </a:p>
        </p:txBody>
      </p:sp>
      <p:pic>
        <p:nvPicPr>
          <p:cNvPr id="29" name="Image 7" descr="assets/icons/arrow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0" y="4736592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491472" y="47183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24×7 SOC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502920" y="57607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plane, one security operations center, one bill — ours.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 — INDIGENOUS CLOUD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Objects private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23560" cy="4297680"/>
          </a:xfrm>
          <a:prstGeom prst="roundRect">
            <a:avLst>
              <a:gd name="adj" fmla="val 1915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5074920" cy="658368"/>
          </a:xfrm>
          <a:prstGeom prst="roundRect">
            <a:avLst>
              <a:gd name="adj" fmla="val 9722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746504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0" descr="assets/icons/glob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49" y="1839041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CDN edge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63040" y="1929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cache hit — renders, catalogs, galleries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2286000"/>
            <a:ext cx="0" cy="13716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423160"/>
            <a:ext cx="5074920" cy="658368"/>
          </a:xfrm>
          <a:prstGeom prst="roundRect">
            <a:avLst>
              <a:gd name="adj" fmla="val 9722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2542032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1" descr="assets/icons/cpu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634569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4871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app plane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463040" y="2724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NestJS · design engines · edit-agent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91840" y="3081528"/>
            <a:ext cx="0" cy="13716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3218688"/>
            <a:ext cx="5074920" cy="658368"/>
          </a:xfrm>
          <a:prstGeom prst="roundRect">
            <a:avLst>
              <a:gd name="adj" fmla="val 9722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6112" y="3337560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9" name="Image 2" descr="assets/icons/databas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3430097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2826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46304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· Redis · Meilisearch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91840" y="3877056"/>
            <a:ext cx="0" cy="13716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014216"/>
            <a:ext cx="5074920" cy="658368"/>
          </a:xfrm>
          <a:prstGeom prst="roundRect">
            <a:avLst>
              <a:gd name="adj" fmla="val 9722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6112" y="4133088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5" name="Image 3" descr="assets/icons/camera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49" y="4225625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40782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render farm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463040" y="4315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L40S-class path tracing · priority queues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91840" y="4672584"/>
            <a:ext cx="0" cy="13716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7240" y="4809744"/>
            <a:ext cx="5074920" cy="658368"/>
          </a:xfrm>
          <a:prstGeom prst="roundRect">
            <a:avLst>
              <a:gd name="adj" fmla="val 9722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96112" y="4928616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1" name="Image 4" descr="assets/icons/drive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49" y="5021153"/>
            <a:ext cx="235549" cy="23554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48737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+ archive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463040" y="51114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· lifecycle tiering · CDN-fronted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446520" y="1618488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5" name="Image 5" descr="assets/icons/pin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057" y="1711025"/>
            <a:ext cx="235549" cy="235549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013448" y="1563624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Indian regions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7013448" y="180136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primary + DR region · RPO 15 min, RTO 4 hr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6446520" y="2514600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9" name="Image 6" descr="assets/icons/layers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9057" y="2607137"/>
            <a:ext cx="235549" cy="235549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013448" y="245973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7013448" y="269748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K8s, Postgres, MinIO/Ceph — zero lock-in, export path always live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6446520" y="3410712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43" name="Image 7" descr="assets/icons/key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9057" y="3503249"/>
            <a:ext cx="235549" cy="235549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013448" y="335584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stay home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7013448" y="359359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keys in our HSMs — never a foreign cloud's custody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6446520" y="4306824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7" name="Image 8" descr="assets/icons/zap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9057" y="4399361"/>
            <a:ext cx="235549" cy="235549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013448" y="425196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valve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7013448" y="448970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Public-cloud GPUs only for spikes — never for the baseline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6446520" y="5257800"/>
            <a:ext cx="5230368" cy="402336"/>
          </a:xfrm>
          <a:prstGeom prst="roundRect">
            <a:avLst>
              <a:gd name="adj" fmla="val 22727"/>
            </a:avLst>
          </a:prstGeom>
          <a:solidFill>
            <a:srgbClr val="38BDF8">
              <a:alpha val="16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6583680" y="5257800"/>
            <a:ext cx="4956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LAW — cloud-neutral: any workload can leave any vendor in 90 days</a:t>
            </a:r>
            <a:endParaRPr lang="en-US" sz="1150" dirty="0"/>
          </a:p>
        </p:txBody>
      </p:sp>
      <p:sp>
        <p:nvSpPr>
          <p:cNvPr id="52" name="Text 41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Rent, partner or own the servers?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309360" cy="4343400"/>
          </a:xfrm>
          <a:prstGeom prst="roundRect">
            <a:avLst>
              <a:gd name="adj" fmla="val 189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CUMULATIVE CASH OUT (₹ CRORE, EST.)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920240"/>
          <a:ext cx="5806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7178040" y="1618488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assets/icons/cpu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577" y="1711025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44968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GPUs — always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44968" y="180136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&lt; 2 years above 60% utilisation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178040" y="2459736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2" name="Image 1" descr="assets/icons/build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577" y="2552273"/>
            <a:ext cx="235549" cy="2355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44968" y="240487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the building — for now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7744968" y="2642616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 until FY29; our IT racks inside it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178040" y="3300984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2" descr="assets/icons/cloud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577" y="3393521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44968" y="324612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to cloud — forever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744968" y="348386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spikes rent GPUs by the hour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178040" y="4206240"/>
            <a:ext cx="4507992" cy="960120"/>
          </a:xfrm>
          <a:prstGeom prst="roundRect">
            <a:avLst>
              <a:gd name="adj" fmla="val 8571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60920" y="43159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+₹49 Cr</a:t>
            </a:r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5-yr premium of full ownership —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back after FY31 at ~₹7 Cr/yr savings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7178040" y="5358384"/>
            <a:ext cx="4507992" cy="402336"/>
          </a:xfrm>
          <a:prstGeom prst="roundRect">
            <a:avLst>
              <a:gd name="adj" fmla="val 22727"/>
            </a:avLst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315200" y="5358384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— hybrid: own compute, lease shells, burst up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— L40S-class cloud GPUs $0.4–1.6/hr; owned card ~$8–9k; India colo ₹8–25k/kW/mo. Sources on final slide.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 — DATA CENTERS · LAND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Land: our 1 MW sovereign core</a:t>
            </a:r>
            <a:endParaRPr lang="en-US" sz="3000" dirty="0"/>
          </a:p>
        </p:txBody>
      </p:sp>
      <p:pic>
        <p:nvPicPr>
          <p:cNvPr id="4" name="Image 0" descr="assets/art_l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84632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12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212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48840" y="5212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48840" y="5212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GRID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94760" y="5212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5212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FIBRE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1417320"/>
            <a:ext cx="6062472" cy="2651760"/>
          </a:xfrm>
          <a:prstGeom prst="roundRect">
            <a:avLst>
              <a:gd name="adj" fmla="val 3103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572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(EST.)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shell, power, cooling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64692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₹50–70 Cr / MW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97880" y="2304288"/>
            <a:ext cx="5623560" cy="0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fit-out — servers, GPUs, network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646920" y="24323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₹40–55 Cr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897880" y="2816352"/>
            <a:ext cx="5623560" cy="0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power, people, spares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646920" y="2944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₹8–12 Cr / yr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897880" y="3328416"/>
            <a:ext cx="5623560" cy="0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design to live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646920" y="3456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23560" y="4224528"/>
            <a:ext cx="6062472" cy="914400"/>
          </a:xfrm>
          <a:prstGeom prst="roundRect">
            <a:avLst>
              <a:gd name="adj" fmla="val 9000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III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760720" y="4645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concurrently maintainable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24344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N+1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78624" y="4645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cooling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842248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 ≤ 1.4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796528" y="4645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warm-water option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360152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Liquid-ready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314432" y="4645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next-gen GPUs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623560" y="5349240"/>
            <a:ext cx="6062472" cy="402336"/>
          </a:xfrm>
          <a:prstGeom prst="roundRect">
            <a:avLst>
              <a:gd name="adj" fmla="val 22727"/>
            </a:avLst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0" y="5349240"/>
            <a:ext cx="5788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site selection FY28 · ground-break FY29 · live FY30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greenfield benchmarks ₹40–70 Cr per MW IT load (JLL / Blackridge, 2025). 1 MW covers FY31 fleet with headroom.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 — DATA CENTERS · SEA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Sea: real technology, not yet our build</a:t>
            </a:r>
            <a:endParaRPr lang="en-US" sz="3000" dirty="0"/>
          </a:p>
        </p:txBody>
      </p:sp>
      <p:pic>
        <p:nvPicPr>
          <p:cNvPr id="4" name="Image 0" descr="assets/art_s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84632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1208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2120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~1.1 — SEA-COOLED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26080" y="521208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0" y="52120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LAND, ZERO WATER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23560" y="1618488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0" name="Image 1" descr="assets/icons/o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097" y="1711025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90488" y="1563624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reliable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190488" y="1801368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subsea pods: 1/8th the failure rate of land — project still shelved in 2024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23560" y="2514600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2" descr="assets/icons/ancho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097" y="260713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0488" y="2459736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commercial — in China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190488" y="269748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commercial subsea DC live off Shanghai, Oct 2025 — offshore-wind powered, ~90% cooling energy cut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10712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8" name="Image 3" descr="assets/icons/warn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097" y="3503249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90488" y="335584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no rulebook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190488" y="3593592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CRZ / marine framework for subsea compute; permits, cables, insurance all unmapped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4306824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2" name="Image 4" descr="assets/icons/tim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097" y="4399361"/>
            <a:ext cx="235549" cy="23554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90488" y="425196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economics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190488" y="4489704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≈ ₹80–150 Cr — beats land only at coastal scale, after the rules exist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5257800"/>
            <a:ext cx="6062472" cy="402336"/>
          </a:xfrm>
          <a:prstGeom prst="roundRect">
            <a:avLst>
              <a:gd name="adj" fmla="val 22727"/>
            </a:avLst>
          </a:prstGeom>
          <a:solidFill>
            <a:srgbClr val="F5B83D">
              <a:alpha val="16000"/>
            </a:srgbClr>
          </a:solidFill>
          <a:ln w="15875">
            <a:solidFill>
              <a:srgbClr val="F5B83D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760720" y="5257800"/>
            <a:ext cx="5788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— WATCH &amp; PARTNER: joint feasibility study FY30, zero capex before rules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Project Natick (ended 2024); Hailanyun / HiCloud commercial subsea DC, Shanghai, Oct 2025.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 — DATA CENTERS · SKY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Sky: a relay layer, not a data center</a:t>
            </a:r>
            <a:endParaRPr lang="en-US" sz="3000" dirty="0"/>
          </a:p>
        </p:txBody>
      </p:sp>
      <p:pic>
        <p:nvPicPr>
          <p:cNvPr id="4" name="Image 0" descr="assets/art_s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84632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21208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2120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KM · SOLAR HAPS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26080" y="521208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5B83D">
              <a:alpha val="1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0" y="52120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ALOFT, KW POWER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23560" y="1618488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1" descr="assets/icons/plan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097" y="1711025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90488" y="1563624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is real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190488" y="1801368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67-day continuous stratospheric flight (Zephyr, Apr 2025); first services target 2026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23560" y="2514600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4" name="Image 2" descr="assets/icons/flag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097" y="260713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0488" y="2459736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flying too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190488" y="269748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NAL's solar HAP prototype in test campaigns; HAL developing CATS warfighter ecosystem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23560" y="3410712"/>
            <a:ext cx="420624" cy="420624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18" name="Image 3" descr="assets/icons/x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097" y="3503249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90488" y="335584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says no servers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190488" y="3593592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HAPS lifts kilowatts, not megawatts — compute payloads don't close; it's a flying cell tower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4306824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2" name="Image 4" descr="assets/icons/radio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097" y="4399361"/>
            <a:ext cx="235549" cy="23554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90488" y="425196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 case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190488" y="4489704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Disaster-relay + temporary site backhaul over remote projects — rented by the week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23560" y="5257800"/>
            <a:ext cx="6062472" cy="402336"/>
          </a:xfrm>
          <a:prstGeom prst="roundRect">
            <a:avLst>
              <a:gd name="adj" fmla="val 22727"/>
            </a:avLst>
          </a:prstGeom>
          <a:solidFill>
            <a:srgbClr val="F87171">
              <a:alpha val="16000"/>
            </a:srgbClr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760720" y="5257800"/>
            <a:ext cx="5788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— NO COMPUTE ALOFT: rent HAPS relay trials FY30+, own nothing that flies in air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AALTO/Airbus Zephyr 67-day flight, Apr 2025; NAL HAP subscale trials, May 2025.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— THE COMPARISON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wins this decade — and we'll watch the water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309360" cy="4343400"/>
          </a:xfrm>
          <a:prstGeom prst="roundRect">
            <a:avLst>
              <a:gd name="adj" fmla="val 189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INDEX PER MW DEPLOYED (LAND 2026 = 100, EST.)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920240"/>
          <a:ext cx="5806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/>
          <p:nvPr/>
        </p:nvSpPr>
        <p:spPr>
          <a:xfrm>
            <a:off x="7178040" y="160020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78040" y="18379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TRL-9 · Sea first-commercial · Sky pre-commercial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78040" y="245973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&amp; PUE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2697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best (~1.1) · Land 1.3–1.5 · Sky n/a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78040" y="3319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India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35570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clear · Sea absent · Sky partial (DGCA)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78040" y="41788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maintain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78040" y="44165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hours · Sea weather-window · Sky landing cycles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78040" y="5074920"/>
            <a:ext cx="4526280" cy="402336"/>
          </a:xfrm>
          <a:prstGeom prst="roundRect">
            <a:avLst>
              <a:gd name="adj" fmla="val 22727"/>
            </a:avLst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0" y="5074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land · STUDY the sea · RENT the sky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internal estimate from public build-cost anchors; sea projected to near-parity for coastal edge by early 2030s.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III — THE PRIVATE NETWORK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site online, three ways 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23560" cy="4343400"/>
          </a:xfrm>
          <a:prstGeom prst="roundRect">
            <a:avLst>
              <a:gd name="adj" fmla="val 1895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965960"/>
            <a:ext cx="1920240" cy="1600200"/>
          </a:xfrm>
          <a:prstGeom prst="line">
            <a:avLst/>
          </a:prstGeom>
          <a:noFill/>
          <a:ln w="15240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3291840" y="1965960"/>
            <a:ext cx="1920240" cy="1600200"/>
          </a:xfrm>
          <a:prstGeom prst="line">
            <a:avLst/>
          </a:prstGeom>
          <a:noFill/>
          <a:ln w="15240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1371600" y="3566160"/>
            <a:ext cx="1920240" cy="1508760"/>
          </a:xfrm>
          <a:prstGeom prst="line">
            <a:avLst/>
          </a:prstGeom>
          <a:noFill/>
          <a:ln w="15240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91840" y="3566160"/>
            <a:ext cx="1920240" cy="1508760"/>
          </a:xfrm>
          <a:prstGeom prst="line">
            <a:avLst/>
          </a:prstGeom>
          <a:noFill/>
          <a:ln w="15240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161288" y="1755648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0" descr="assets/icons/building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85623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+ Data center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01768" y="1755648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1" descr="assets/icons/camera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85623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centers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161288" y="4864608"/>
            <a:ext cx="457200" cy="457200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6" name="Image 2" descr="assets/icons/factory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49651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" y="5349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001768" y="4864608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9" name="Image 3" descr="assets/icons/users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496519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51960" y="5349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&amp; engineers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2907792" y="3182112"/>
            <a:ext cx="768096" cy="768096"/>
          </a:xfrm>
          <a:prstGeom prst="ellipse">
            <a:avLst/>
          </a:prstGeom>
          <a:solidFill>
            <a:srgbClr val="38BDF8">
              <a:alpha val="25000"/>
            </a:srgbClr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22" name="Image 4" descr="assets/icons/network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3832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37744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CORE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777240" y="15727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OVERLAY — ZERO-TRUST, ENCRYPTED, INDIA-ROUTED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46520" y="1618488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6" name="Image 5" descr="assets/icons/network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057" y="1711025"/>
            <a:ext cx="235549" cy="23554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13448" y="1563624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Fibre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7013448" y="180136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at every fixed site; dual entry at DC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446520" y="2514600"/>
            <a:ext cx="420624" cy="42062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0" name="Image 6" descr="assets/icons/wifi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9057" y="2607137"/>
            <a:ext cx="235549" cy="23554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13448" y="245973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— 4G/5G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7013448" y="269748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Instant-on for new construction sites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446520" y="3410712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4" name="Image 7" descr="assets/icons/satellit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9057" y="3503249"/>
            <a:ext cx="235549" cy="23554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13448" y="335584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— Satellite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7013448" y="359359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Leased LEO + our constellation; no-signal villages covered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6446520" y="4306824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8" name="Image 8" descr="assets/icons/shield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9057" y="4399361"/>
            <a:ext cx="235549" cy="235549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013448" y="425196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overlay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7013448" y="448970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+ zero-trust; site joins in a day, fails over in seconds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6446520" y="5257800"/>
            <a:ext cx="5239512" cy="402336"/>
          </a:xfrm>
          <a:prstGeom prst="roundRect">
            <a:avLst>
              <a:gd name="adj" fmla="val 22727"/>
            </a:avLst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583680" y="5257800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200+ sites by FY31 · 99.9% each · zero dark days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IV — SATELLITES · OPTIONS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the sky first — then build our corner of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A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36,000 km  ·  ~600 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Broadcast, rural VSAT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3712" y="1956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km  ·  ~150 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2231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backhaul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47304" y="141732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75904" y="1956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km  ·  25–50 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75904" y="2231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apps — our fit</a:t>
            </a:r>
            <a:endParaRPr lang="en-US" sz="1050" dirty="0"/>
          </a:p>
        </p:txBody>
      </p:sp>
      <p:pic>
        <p:nvPicPr>
          <p:cNvPr id="16" name="Image 0" descr="assets/icons/o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704" y="1572768"/>
            <a:ext cx="274320" cy="2743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02920" y="3429000"/>
            <a:ext cx="11183112" cy="1828800"/>
          </a:xfrm>
          <a:prstGeom prst="roundRect">
            <a:avLst>
              <a:gd name="adj" fmla="val 4500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5844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SELL US CAPACITY IN INDIA (STATUS AUG 2026)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7240" y="42245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GMPCS + IN-SPACe cleared; ~₹3,000/mo expected, terminal ₹25–35k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52044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Jio-SES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520440" y="42245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GEO+MEO enterprise; Indian gateways live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6364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Eutelsat OneWeb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263640" y="42245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enterprise via Bharti; India gateways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00684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VSAT CUG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006840" y="42245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licensed hub — ₹10k/terminal/yr fee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2920" y="5486400"/>
            <a:ext cx="11183112" cy="402336"/>
          </a:xfrm>
          <a:prstGeom prst="roundRect">
            <a:avLst>
              <a:gd name="adj" fmla="val 22727"/>
            </a:avLst>
          </a:prstGeom>
          <a:solidFill>
            <a:srgbClr val="38BDF8">
              <a:alpha val="16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486400"/>
            <a:ext cx="10908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lease LEO broadband for sites &amp; failover · reserve our own build for the one job leasing can't do: captive telemetry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licensing &amp; pricing: press reports 2025–26; VSAT CUG fee: DoT guidelines 2022.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IV — SATELLITES · REALITY CHECK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miniature satellites can honestly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343400"/>
          </a:xfrm>
          <a:prstGeom prst="roundRect">
            <a:avLst>
              <a:gd name="adj" fmla="val 189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— TRUTH TABLE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792224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Image 0" descr="assets/icons/o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7" y="1884761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173736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NB-IoT telemetry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44168" y="197510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sensors, trackers, meters — few bytes, everywhere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2569464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1" name="Image 1" descr="assets/icons/o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" y="266200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44168" y="251460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alerts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44168" y="275234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pings, SOS, fleet — store-and-forward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3346704"/>
            <a:ext cx="420624" cy="42062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5" name="Image 2" descr="assets/icons/o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77" y="3439241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329184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data drops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344168" y="352958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photos, drone survey packets on each pass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77240" y="4123944"/>
            <a:ext cx="420624" cy="420624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9" name="Image 3" descr="assets/icons/warn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" y="4216481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44168" y="406908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broadband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344168" y="430682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Mbps-class only with large sats + big gateways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77240" y="4901184"/>
            <a:ext cx="420624" cy="420624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23" name="Image 4" descr="assets/icons/x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777" y="4993721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44168" y="484632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broadband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344168" y="508406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100s of satellites &amp; ₹8,000+ Cr — Starlink's game, not ours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17920" y="1417320"/>
            <a:ext cx="5468112" cy="4343400"/>
          </a:xfrm>
          <a:prstGeom prst="roundRect">
            <a:avLst>
              <a:gd name="adj" fmla="val 1895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92240" y="1572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CLASSES (BUILD COST / SAT, EST.)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492240" y="19568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1U–3U CubeSat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92240" y="2203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kg · student &amp; demo missions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9921240" y="1975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₹1–4 Cr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492240" y="2798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6U–12U nanosat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649224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8–25 kg · our class — NB-IoT payloads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921240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₹6–12 Cr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6355080" y="2724912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34D399">
              <a:alpha val="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9224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kg microsat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4922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kg · thin comms, EO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9921240" y="3657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₹15–35 Cr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6492240" y="4480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150–300 kg smallsat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6492240" y="4727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kg · broadband-lite constellations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992124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₹40–90 Cr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6492240" y="5321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platforms now indigenous: Dhruva · Astrome · Azista (IN-SPACe programme, 2026)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bands: NanoAvionics / industry references + Indian programme anchors. est.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IV — SATELLITES · OUR 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Objects constellation — 12 birds by FY31</a:t>
            </a:r>
            <a:endParaRPr lang="en-US" sz="3000" dirty="0"/>
          </a:p>
        </p:txBody>
      </p:sp>
      <p:pic>
        <p:nvPicPr>
          <p:cNvPr id="4" name="Image 0" descr="assets/orbit_constel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44805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554480"/>
            <a:ext cx="6656832" cy="841248"/>
          </a:xfrm>
          <a:prstGeom prst="roundRect">
            <a:avLst>
              <a:gd name="adj" fmla="val 9783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85232" y="16459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FY28–29 — Demonstrator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85232" y="193852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6U NB-IoT sats · SSLV / rideshare · ground via GSaaS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0" y="2523744"/>
            <a:ext cx="6656832" cy="841248"/>
          </a:xfrm>
          <a:prstGeom prst="roundRect">
            <a:avLst>
              <a:gd name="adj" fmla="val 9783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85232" y="26151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FY30 — First 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85232" y="29077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sats · own S-band gateway, Hyderabad · live site telemetry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0" y="3493008"/>
            <a:ext cx="6656832" cy="841248"/>
          </a:xfrm>
          <a:prstGeom prst="roundRect">
            <a:avLst>
              <a:gd name="adj" fmla="val 9783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5232" y="35844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FY31 — Full 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85232" y="387705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sats · ~90-min revisit India · 2 gateways + mission NOC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0" y="46177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4617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KM SSO ORBIT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69480" y="46177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4617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NB-IoT (NTN)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509760" y="4617720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0" y="46177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STORE-AND-FORWARD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5138928"/>
            <a:ext cx="6656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with, not from scratch: </a:t>
            </a:r>
            <a:pPr indent="0" marL="0">
              <a:buNone/>
            </a:pPr>
            <a:r>
              <a:rPr lang="en-US" sz="11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buses (Dhruva / Astrome / Azista), our payload spec, ISRO-ecosystem launch, Indian ground partners.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12 sats ≈ 90-min revisit (store-and-forward); continuous coverage stays hybrid with leased NB-IoT NTN roaming.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IV — SATELLITES ·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sky costs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806440" cy="4343400"/>
          </a:xfrm>
          <a:prstGeom prst="roundRect">
            <a:avLst>
              <a:gd name="adj" fmla="val 189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PRICE PER KG TO ORBIT (USD, 2026)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9202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/>
          <p:nvPr/>
        </p:nvSpPr>
        <p:spPr>
          <a:xfrm>
            <a:off x="6629400" y="16002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 (2 sats, FY28–29)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46920" y="16002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₹25–35 Cr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29400" y="21671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12-sat constellation, all-in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46920" y="216712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₹180–260 Cr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29400" y="2679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 ₹96–144 · launch ₹20–35 · ground ₹25–35 · 3-yr ops ₹40–55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29400" y="32095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Leased-only alternative (per yr)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46920" y="320954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₹3–4 Cr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46520" y="379476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931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math: </a:t>
            </a:r>
            <a:pPr indent="0" marL="0">
              <a:buNone/>
            </a:pPr>
            <a:r>
              <a:rPr lang="en-US" sz="11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never beats leasing on ₹/bit. We buy certainty: a layer nobody can price-hike, geo-block or switch off.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46520" y="5257800"/>
            <a:ext cx="5257800" cy="402336"/>
          </a:xfrm>
          <a:prstGeom prst="roundRect">
            <a:avLst>
              <a:gd name="adj" fmla="val 22727"/>
            </a:avLst>
          </a:prstGeom>
          <a:solidFill>
            <a:srgbClr val="F5B83D">
              <a:alpha val="16000"/>
            </a:srgbClr>
          </a:solidFill>
          <a:ln w="15875">
            <a:solidFill>
              <a:srgbClr val="F5B8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52578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 — constellation go/no-go sits at FY29, after the demo flies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SpaceX rideshare $7k/kg (2026); SSLV ~$3.7M/500 kg; PSLV ₹130–200 Cr. Program bands: est., cross-checked vs Fleet (~$150–200M/100 sats) &amp; Indian 12-sat EO PPP ($135M).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 — WHAT WE MUST OBTAIN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regulatory runway — start filing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121408" cy="2514600"/>
          </a:xfrm>
          <a:prstGeom prst="roundRect">
            <a:avLst>
              <a:gd name="adj" fmla="val 3879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9164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assets/icons/landmar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2140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72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7512" y="22860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IN-SPACe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" y="257860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for satellites, payloads &amp; ground stations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" y="36118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</a:t>
            </a:r>
            <a:endParaRPr lang="en-US" sz="1000" dirty="0"/>
          </a:p>
        </p:txBody>
      </p:sp>
      <p:pic>
        <p:nvPicPr>
          <p:cNvPr id="11" name="Image 1" descr="assets/icons/arrow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60604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70632" y="1508760"/>
            <a:ext cx="2121408" cy="2514600"/>
          </a:xfrm>
          <a:prstGeom prst="roundRect">
            <a:avLst>
              <a:gd name="adj" fmla="val 3879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935224" y="169164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2" descr="assets/icons/scroll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17922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891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72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2935224" y="22860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licence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935224" y="257860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VSAT CUG now · GMPCS via UL if user-links later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2935224" y="36118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</a:t>
            </a:r>
            <a:endParaRPr lang="en-US" sz="1000" dirty="0"/>
          </a:p>
        </p:txBody>
      </p:sp>
      <p:pic>
        <p:nvPicPr>
          <p:cNvPr id="19" name="Image 3" descr="assets/icons/arrow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60604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38344" y="1508760"/>
            <a:ext cx="2121408" cy="2514600"/>
          </a:xfrm>
          <a:prstGeom prst="roundRect">
            <a:avLst>
              <a:gd name="adj" fmla="val 3879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202936" y="169164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2" name="Image 4" descr="assets/icons/radio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79222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5683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72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5202936" y="22860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 spectrum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202936" y="257860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assignment · 4% AGR + ₹3,500/MHz min/yr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5202936" y="36118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licence</a:t>
            </a:r>
            <a:endParaRPr lang="en-US" sz="1000" dirty="0"/>
          </a:p>
        </p:txBody>
      </p:sp>
      <p:pic>
        <p:nvPicPr>
          <p:cNvPr id="27" name="Image 5" descr="assets/icons/arrow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1464" y="260604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306056" y="1508760"/>
            <a:ext cx="2121408" cy="2514600"/>
          </a:xfrm>
          <a:prstGeom prst="roundRect">
            <a:avLst>
              <a:gd name="adj" fmla="val 3879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470648" y="169164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0" name="Image 6" descr="assets/icons/globe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232" y="1792224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92454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72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23"/>
          <p:cNvSpPr/>
          <p:nvPr/>
        </p:nvSpPr>
        <p:spPr>
          <a:xfrm>
            <a:off x="7470648" y="22860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filing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7470648" y="257860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coordination via DoT — longest pole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7470648" y="36118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</a:t>
            </a:r>
            <a:endParaRPr lang="en-US" sz="1000" dirty="0"/>
          </a:p>
        </p:txBody>
      </p:sp>
      <p:pic>
        <p:nvPicPr>
          <p:cNvPr id="35" name="Image 7" descr="assets/icons/arrow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9176" y="2606040"/>
            <a:ext cx="182880" cy="18288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573768" y="1508760"/>
            <a:ext cx="2121408" cy="2514600"/>
          </a:xfrm>
          <a:prstGeom prst="roundRect">
            <a:avLst>
              <a:gd name="adj" fmla="val 3879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9738360" y="169164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8" name="Image 8" descr="assets/icons/rocket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944" y="1792224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1192256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72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0" name="Text 29"/>
          <p:cNvSpPr/>
          <p:nvPr/>
        </p:nvSpPr>
        <p:spPr>
          <a:xfrm>
            <a:off x="9738360" y="22860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ops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9738360" y="257860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NSIL / SSLV contract · insurance · deorbit plan (≤5 yr)</a:t>
            </a:r>
            <a:endParaRPr lang="en-US" sz="950" dirty="0"/>
          </a:p>
        </p:txBody>
      </p:sp>
      <p:sp>
        <p:nvSpPr>
          <p:cNvPr id="42" name="Text 31"/>
          <p:cNvSpPr/>
          <p:nvPr/>
        </p:nvSpPr>
        <p:spPr>
          <a:xfrm>
            <a:off x="9738360" y="36118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FY28–29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502920" y="429768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777240" y="44439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BUY</a:t>
            </a:r>
            <a:endParaRPr lang="en-US" sz="1000" dirty="0"/>
          </a:p>
        </p:txBody>
      </p:sp>
      <p:pic>
        <p:nvPicPr>
          <p:cNvPr id="45" name="Image 9" descr="assets/icons/check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4773168"/>
            <a:ext cx="201168" cy="20116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051560" y="47365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NB-IoT payload spectrum (NTN)</a:t>
            </a:r>
            <a:endParaRPr lang="en-US" sz="1100" dirty="0"/>
          </a:p>
        </p:txBody>
      </p:sp>
      <p:pic>
        <p:nvPicPr>
          <p:cNvPr id="47" name="Image 10" descr="assets/icons/check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4773168"/>
            <a:ext cx="201168" cy="20116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629400" y="47365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S/UHF TT&amp;C command links</a:t>
            </a:r>
            <a:endParaRPr lang="en-US" sz="1100" dirty="0"/>
          </a:p>
        </p:txBody>
      </p:sp>
      <p:pic>
        <p:nvPicPr>
          <p:cNvPr id="49" name="Image 11" descr="assets/icons/check_gree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5102352"/>
            <a:ext cx="201168" cy="201168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1051560" y="50657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Ku/Ka gateway feeder links</a:t>
            </a:r>
            <a:endParaRPr lang="en-US" sz="1100" dirty="0"/>
          </a:p>
        </p:txBody>
      </p:sp>
      <p:pic>
        <p:nvPicPr>
          <p:cNvPr id="51" name="Image 12" descr="assets/icons/check_gree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5102352"/>
            <a:ext cx="201168" cy="201168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6629400" y="50657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 ETA for every terminal type</a:t>
            </a:r>
            <a:endParaRPr lang="en-US" sz="1100" dirty="0"/>
          </a:p>
        </p:txBody>
      </p:sp>
      <p:sp>
        <p:nvSpPr>
          <p:cNvPr id="53" name="Shape 38"/>
          <p:cNvSpPr/>
          <p:nvPr/>
        </p:nvSpPr>
        <p:spPr>
          <a:xfrm>
            <a:off x="502920" y="5623560"/>
            <a:ext cx="11183112" cy="402336"/>
          </a:xfrm>
          <a:prstGeom prst="roundRect">
            <a:avLst>
              <a:gd name="adj" fmla="val 22727"/>
            </a:avLst>
          </a:prstGeom>
          <a:solidFill>
            <a:srgbClr val="38BDF8">
              <a:alpha val="16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640080" y="5623560"/>
            <a:ext cx="10908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ARE SMALL, TIME IS NOT — file IN-SPACe + ITU paperwork in FY27, fly in FY29</a:t>
            </a:r>
            <a:endParaRPr lang="en-US" sz="1150" dirty="0"/>
          </a:p>
        </p:txBody>
      </p:sp>
      <p:sp>
        <p:nvSpPr>
          <p:cNvPr id="55" name="Text 40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reco May 2025 (4% AGR, may rise to 5%); DoT Captive VSAT CUG guidelines 2022 (₹10k/terminal/yr); FDI: 74% automatic in sat manufacturing.</a:t>
            </a:r>
            <a:endParaRPr lang="en-US" sz="800" dirty="0"/>
          </a:p>
        </p:txBody>
      </p:sp>
      <p:sp>
        <p:nvSpPr>
          <p:cNvPr id="56" name="Text 41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 — WHAT SHOULD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rules we'll push to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1901952"/>
          </a:xfrm>
          <a:prstGeom prst="roundRect">
            <a:avLst>
              <a:gd name="adj" fmla="val 4327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4592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assets/icons/satellit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465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Captive-constellation licence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5054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own-use class for private constellations — like captive VSAT, not full GMPCS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88536" y="1463040"/>
            <a:ext cx="3611880" cy="1901952"/>
          </a:xfrm>
          <a:prstGeom prst="roundRect">
            <a:avLst>
              <a:gd name="adj" fmla="val 4327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9704" y="164592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1" name="Image 1" descr="assets/icons/timer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7465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120-day single window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9704" y="25054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IN-SPACe + DoT + WPC as one time-bound approval, not three queues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74152" y="1463040"/>
            <a:ext cx="3611880" cy="1901952"/>
          </a:xfrm>
          <a:prstGeom prst="roundRect">
            <a:avLst>
              <a:gd name="adj" fmla="val 4327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2" descr="assets/icons/radio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7465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spectrum terms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75320" y="25054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assignments can't finance 7-year satellite capex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3547872"/>
            <a:ext cx="3611880" cy="1901952"/>
          </a:xfrm>
          <a:prstGeom prst="roundRect">
            <a:avLst>
              <a:gd name="adj" fmla="val 4327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" y="37307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1" name="Image 3" descr="assets/icons/rocke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8313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SSLV cadence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4088" y="45902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rideshare calendar so Indian constellations plan launches like freight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288536" y="3547872"/>
            <a:ext cx="3611880" cy="1901952"/>
          </a:xfrm>
          <a:prstGeom prst="roundRect">
            <a:avLst>
              <a:gd name="adj" fmla="val 4327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9704" y="37307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6" name="Image 4" descr="assets/icons/ancho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383133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DC framework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9704" y="45902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CRZ / offshore rules for subsea &amp; floating data centers — today there are none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74152" y="3547872"/>
            <a:ext cx="3611880" cy="1901952"/>
          </a:xfrm>
          <a:prstGeom prst="roundRect">
            <a:avLst>
              <a:gd name="adj" fmla="val 4327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37307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1" name="Image 5" descr="assets/icons/factory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383133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for space + DC gear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75320" y="45902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production incentives to satellite buses, gateways, HSMs, cooling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02920" y="562356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IN-SPACe consultations · TRAI open houses · industry bodies (ISpA) — as a builder with skin in the game, not a lobbyist.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SOVEREIGNTY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means secure — or it means nothing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1938528"/>
          </a:xfrm>
          <a:prstGeom prst="roundRect">
            <a:avLst>
              <a:gd name="adj" fmla="val 424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55648"/>
            <a:ext cx="475488" cy="47548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assets/icons/pi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" y="186025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359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26517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— designs, payments, homes — stored and processed in India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288536" y="1554480"/>
            <a:ext cx="3611880" cy="1938528"/>
          </a:xfrm>
          <a:prstGeom prst="roundRect">
            <a:avLst>
              <a:gd name="adj" fmla="val 424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9704" y="1755648"/>
            <a:ext cx="475488" cy="475488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1" name="Image 1" descr="assets/icons/key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311" y="186025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359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custody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9704" y="26517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keys in our HSMs; no foreign cloud ever holds them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074152" y="1554480"/>
            <a:ext cx="3611880" cy="1938528"/>
          </a:xfrm>
          <a:prstGeom prst="roundRect">
            <a:avLst>
              <a:gd name="adj" fmla="val 424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755648"/>
            <a:ext cx="475488" cy="47548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2" descr="assets/icons/shield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927" y="186025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359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26517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everywhere, least privilege, segmented networks, signed firmware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02920" y="3703320"/>
            <a:ext cx="3611880" cy="1938528"/>
          </a:xfrm>
          <a:prstGeom prst="roundRect">
            <a:avLst>
              <a:gd name="adj" fmla="val 424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" y="3904488"/>
            <a:ext cx="475488" cy="47548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1" name="Image 3" descr="assets/icons/ey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" y="400909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" y="4507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SOC + NOC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pane for cloud, DC, network and satellites; forensic-ready logging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288536" y="3703320"/>
            <a:ext cx="3611880" cy="1938528"/>
          </a:xfrm>
          <a:prstGeom prst="roundRect">
            <a:avLst>
              <a:gd name="adj" fmla="val 424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9704" y="3904488"/>
            <a:ext cx="475488" cy="475488"/>
          </a:xfrm>
          <a:prstGeom prst="ellipse">
            <a:avLst/>
          </a:prstGeom>
          <a:solidFill>
            <a:srgbClr val="F5B83D">
              <a:alpha val="16000"/>
            </a:srgbClr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6" name="Image 4" descr="assets/icons/drive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11" y="400909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4507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Unkillable backups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89704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+ offline copies; ransomware drills twice a year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074152" y="3703320"/>
            <a:ext cx="3611880" cy="1938528"/>
          </a:xfrm>
          <a:prstGeom prst="roundRect">
            <a:avLst>
              <a:gd name="adj" fmla="val 4245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3904488"/>
            <a:ext cx="475488" cy="47548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1" name="Image 5" descr="assets/icons/filecheck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9927" y="4009095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507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built-in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75320" y="4800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· CERT-In 6-hour incident reporting · audit evidence on tap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502920" y="57150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terminals, gateways and telecommand links live inside the same zero-trust perimeter — a hacked dish must be worth nothing.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Partners, not dependencies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88336" cy="3977640"/>
          </a:xfrm>
          <a:prstGeom prst="roundRect">
            <a:avLst>
              <a:gd name="adj" fmla="val 3061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IN-SPACe · NSIL / ISRO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· launch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Dhruva Space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· ground stations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6941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· mmWave links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Skyroot · Agnikul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launch options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28416" y="1463040"/>
            <a:ext cx="2688336" cy="3977640"/>
          </a:xfrm>
          <a:prstGeom prst="roundRect">
            <a:avLst>
              <a:gd name="adj" fmla="val 3061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11296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Jio-SES · OneWeb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11296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leased GEO/LEO capacity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11296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11296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broadband (as available)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11296" y="36941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BSNL · BharatNet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11296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to deep districts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1296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/ NTN roaming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11296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NB-IoT continuity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53912" y="1463040"/>
            <a:ext cx="2688336" cy="3977640"/>
          </a:xfrm>
          <a:prstGeom prst="roundRect">
            <a:avLst>
              <a:gd name="adj" fmla="val 3061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36792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 host (interim)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36792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racks till our DC lives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36792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+ cooling partner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36792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design &amp; build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36792" y="36941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OEMs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36792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supply &amp; service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/ security vendors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36792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SOC tooling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79408" y="1463040"/>
            <a:ext cx="2688336" cy="3977640"/>
          </a:xfrm>
          <a:prstGeom prst="roundRect">
            <a:avLst>
              <a:gd name="adj" fmla="val 3061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62288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IIST · IITs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62288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&amp; RF talent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62288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162288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 relay trials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62288" y="36941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C-DOT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162288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standards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62288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institutes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162288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subsea DC study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5577840"/>
            <a:ext cx="11183112" cy="566928"/>
          </a:xfrm>
          <a:prstGeom prst="roundRect">
            <a:avLst>
              <a:gd name="adj" fmla="val 14516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650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precedent that de-risks us: </a:t>
            </a:r>
            <a:pPr indent="0" marL="0">
              <a:buNone/>
            </a:pPr>
            <a:r>
              <a:rPr lang="en-US" sz="11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IN-SPACe already funded a private 12-satellite national constellation as a ₹1,150 Cr ($135M) PPP — the collaborate path is real and priced.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Pixxel-led consortium (with Dhruva, PierSight, SatSure), IN-SPACe EO constellation PPP, Feb 2026.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</a:t>
            </a:r>
            <a:pPr indent="0" marL="0">
              <a:buNone/>
            </a:pPr>
            <a:r>
              <a:rPr lang="en-US" sz="1050" spc="300" kern="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&amp; THE BILL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years, three cheques, one spine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91640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91640" y="1481328"/>
            <a:ext cx="0" cy="1975104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0" y="1481328"/>
            <a:ext cx="0" cy="1975104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481328"/>
            <a:ext cx="0" cy="1975104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0" y="1481328"/>
            <a:ext cx="0" cy="1975104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5480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555480" y="1481328"/>
            <a:ext cx="0" cy="1975104"/>
          </a:xfrm>
          <a:prstGeom prst="line">
            <a:avLst/>
          </a:prstGeom>
          <a:noFill/>
          <a:ln w="9525">
            <a:solidFill>
              <a:srgbClr val="2434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91640" y="1591056"/>
            <a:ext cx="2894076" cy="329184"/>
          </a:xfrm>
          <a:prstGeom prst="roundRect">
            <a:avLst>
              <a:gd name="adj" fmla="val 16667"/>
            </a:avLst>
          </a:prstGeom>
          <a:solidFill>
            <a:srgbClr val="38BDF8">
              <a:alpha val="2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1591056"/>
            <a:ext cx="2784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cloud, rented iron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640580" y="1591056"/>
            <a:ext cx="2894076" cy="329184"/>
          </a:xfrm>
          <a:prstGeom prst="roundRect">
            <a:avLst>
              <a:gd name="adj" fmla="val 16667"/>
            </a:avLst>
          </a:prstGeom>
          <a:solidFill>
            <a:srgbClr val="38BDF8">
              <a:alpha val="2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3732" y="1591056"/>
            <a:ext cx="2784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GPUs in colo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589520" y="1591056"/>
            <a:ext cx="3877056" cy="329184"/>
          </a:xfrm>
          <a:prstGeom prst="roundRect">
            <a:avLst>
              <a:gd name="adj" fmla="val 16667"/>
            </a:avLst>
          </a:prstGeom>
          <a:solidFill>
            <a:srgbClr val="38BDF8">
              <a:alpha val="2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159105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1 MW DC live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0292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91640" y="2157984"/>
            <a:ext cx="2894076" cy="329184"/>
          </a:xfrm>
          <a:prstGeom prst="roundRect">
            <a:avLst>
              <a:gd name="adj" fmla="val 16667"/>
            </a:avLst>
          </a:prstGeom>
          <a:solidFill>
            <a:srgbClr val="34D399">
              <a:alpha val="2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64792" y="2157984"/>
            <a:ext cx="2784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+ leased LEO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640580" y="2157984"/>
            <a:ext cx="2894076" cy="329184"/>
          </a:xfrm>
          <a:prstGeom prst="roundRect">
            <a:avLst>
              <a:gd name="adj" fmla="val 16667"/>
            </a:avLst>
          </a:prstGeom>
          <a:solidFill>
            <a:srgbClr val="34D399">
              <a:alpha val="2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3732" y="2157984"/>
            <a:ext cx="2784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VSAT CUG hub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589520" y="2157984"/>
            <a:ext cx="3877056" cy="329184"/>
          </a:xfrm>
          <a:prstGeom prst="roundRect">
            <a:avLst>
              <a:gd name="adj" fmla="val 16667"/>
            </a:avLst>
          </a:prstGeom>
          <a:solidFill>
            <a:srgbClr val="34D399">
              <a:alpha val="2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62672" y="215798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sites, 3-path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502920" y="2743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91640" y="2724912"/>
            <a:ext cx="2894076" cy="329184"/>
          </a:xfrm>
          <a:prstGeom prst="roundRect">
            <a:avLst>
              <a:gd name="adj" fmla="val 16667"/>
            </a:avLst>
          </a:prstGeom>
          <a:solidFill>
            <a:srgbClr val="F5B83D">
              <a:alpha val="2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64792" y="2724912"/>
            <a:ext cx="2784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IN-SPACe + ITU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40580" y="2724912"/>
            <a:ext cx="2894076" cy="329184"/>
          </a:xfrm>
          <a:prstGeom prst="roundRect">
            <a:avLst>
              <a:gd name="adj" fmla="val 16667"/>
            </a:avLst>
          </a:prstGeom>
          <a:solidFill>
            <a:srgbClr val="F5B83D">
              <a:alpha val="2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3732" y="2724912"/>
            <a:ext cx="2784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build + launch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589520" y="2724912"/>
            <a:ext cx="3877056" cy="329184"/>
          </a:xfrm>
          <a:prstGeom prst="roundRect">
            <a:avLst>
              <a:gd name="adj" fmla="val 16667"/>
            </a:avLst>
          </a:prstGeom>
          <a:solidFill>
            <a:srgbClr val="F5B83D">
              <a:alpha val="2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2724912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12-sat constellation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02920" y="3657600"/>
            <a:ext cx="5806440" cy="2606040"/>
          </a:xfrm>
          <a:prstGeom prst="roundRect">
            <a:avLst>
              <a:gd name="adj" fmla="val 3158"/>
            </a:avLst>
          </a:prstGeom>
          <a:solidFill>
            <a:srgbClr val="152238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7856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5-YEAR BILL — THREE PATHS (₹ CRORE, EST.)</a:t>
            </a:r>
            <a:endParaRPr lang="en-US" sz="10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731520" y="4069080"/>
          <a:ext cx="4343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Text 35"/>
          <p:cNvSpPr/>
          <p:nvPr/>
        </p:nvSpPr>
        <p:spPr>
          <a:xfrm>
            <a:off x="5074920" y="42245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₹405 Cr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074920" y="47914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₹210 Cr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074920" y="53583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A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₹130 Cr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446520" y="3657600"/>
            <a:ext cx="5239512" cy="2606040"/>
          </a:xfrm>
          <a:prstGeom prst="roundRect">
            <a:avLst>
              <a:gd name="adj" fmla="val 3158"/>
            </a:avLst>
          </a:prstGeom>
          <a:solidFill>
            <a:srgbClr val="111C30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75120" y="378561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GATES — SPEND UNLOCKS ONLY ON PROOF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675120" y="413308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5B83D">
              <a:alpha val="1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75120" y="41330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680960" y="4133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utilisation &gt; 60% for a quarter → buy the fleet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675120" y="46451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5B83D">
              <a:alpha val="1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7512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680960" y="4645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sat healthy + licences in hand → constellation go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675120" y="515721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5B83D">
              <a:alpha val="18000"/>
            </a:srgbClr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675120" y="51572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680960" y="51572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 bill vs DC model crossover → building go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675120" y="5779008"/>
            <a:ext cx="4754880" cy="402336"/>
          </a:xfrm>
          <a:prstGeom prst="roundRect">
            <a:avLst>
              <a:gd name="adj" fmla="val 22727"/>
            </a:avLst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12280" y="577900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HYBRID PATH: ₹210 Cr over 5 years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502920" y="651052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order-of-magnitude estimates for planning; sources: JLL/Blackridge (DC), SpaceX/ISRO (launch), TRAI/DoT (fees), IN-SPACe PPP (constellation anchor).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1147572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2026-08-10T14:36:57Z</dcterms:created>
  <dcterms:modified xsi:type="dcterms:W3CDTF">2026-08-10T14:36:57Z</dcterms:modified>
</cp:coreProperties>
</file>